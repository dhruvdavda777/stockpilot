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f4648be-785a-b0f1-7270-a1a4b2153360}">
          <p14:sldIdLst>
            <p14:sldId id="256"/>
          </p14:sldIdLst>
        </p14:section>
        <p14:section name="Application" id="{f414f66a-d4be-7ea2-10cc-0dcd1dcc1bf5}">
          <p14:sldIdLst>
            <p14:sldId id="257"/>
          </p14:sldIdLst>
        </p14:section>
        <p14:section name="Delivery" id="{aabdd151-7de2-fd6b-963d-c0d18e83bde3}">
          <p14:sldIdLst>
            <p14:sldId id="258"/>
            <p14:sldId id="259"/>
          </p14:sldIdLst>
        </p14:section>
        <p14:section name="Infrastructure" id="{9e35bff5-772f-bad2-bd10-ebb950fdab6d}">
          <p14:sldIdLst>
            <p14:sldId id="260"/>
          </p14:sldIdLst>
        </p14:section>
        <p14:section name="Operations" id="{38eab658-3acd-83c0-dbad-6778fab612e8}">
          <p14:sldIdLst>
            <p14:sldId id="261"/>
            <p14:sldId id="262"/>
          </p14:sldIdLst>
        </p14:section>
        <p14:section name="Close" id="{c6ae42e0-8689-0ad8-95b0-516c4fecdb64}">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Dhruv. This is StockPilot, my DevOps capstone. It's an inventory management app, and the point of the project is the journey: how a single Git commit travels through testing, security scanning, a container registry and Terraform-built AWS infrastructure, into a monitored, autoscaling Kubernetes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a React frontend, a FastAPI backend with fourteen REST endpoints, and PostgreSQL with Alembic migrations. You can manage products and categories, and every stock change is written to an audit log. It also exposes health, readiness and Prometheus metrics endpoints. Thirty-two automated tests run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delivery path. A push to main triggers GitHub Actions: backend and frontend tests first, then both Docker images are built and scanned with Trivy. If a test fails or Trivy finds a fixable high or critical vulnerability, the pipeline stops and nothing ships. Images go to GitHub Container Registry, tagged with the commit SHA, and Helm deploys them to EKS. The deploy job logs in to AWS through OIDC, so no AWS keys are stored in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all six jobs green, ending with the deploy to EKS. Trivy found zero high or critical vulnerabilities in both images, which run as non-root users. Every third-party GitHub Action is pinned to a commit SHA, which protects the pipeline against tampered action tags.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AWS infrastructure is Terraform: a VPC across two availability zones with public and private subnets and a NAT gateway, an EKS cluster with a managed node group, and the GitHub OIDC deploy role. Sixty-four resources from one command, and I destroyed all of it after recording to avoid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Helm deploys the frontend, backend and PostgreSQL behind an Nginx Ingress. During a load test, the Horizontal Pod Autoscaler scaled the backend from two to eight pods. Prometheus scrapes each pod's metrics endpoint, and this Grafana dashboard shows about 350 requests per second, 96 milliseconds p95 latency and zero errors, along with the replicas climbing.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troubleshooting. I built five broken scenarios: a wrong image tag, a Service whose selector doesn't match, a bad readiness probe, a missing Secret and an out-of-memory limit. Here on EKS you can see the ImagePullBackOff and the empty endpoints, then both fixed. I also took the database down: readiness pulls pods out of traffic, and liveness keeps them from restarting.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thirty-two tests, zero critical vulnerabilities, autoscaling from two to eight pods, and five failure drills, all on a pipeline that goes from a Git push to a monitored Kubernetes cluster without manual steps. The code, Terraform, Helm chart and screenshots are all in the GitHub repo.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17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206240" cy="100584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rgbClr val="0F172A"/>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1234440"/>
            <a:ext cx="4206240" cy="100584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StockPilot</a:t>
            </a:r>
            <a:endParaRPr lang="en-US" sz="4400" dirty="0"/>
          </a:p>
        </p:txBody>
      </p:sp>
      <p:sp>
        <p:nvSpPr>
          <p:cNvPr id="3" name="Text 1"/>
          <p:cNvSpPr txBox="1"/>
          <p:nvPr/>
        </p:nvSpPr>
        <p:spPr>
          <a:xfrm>
            <a:off x="457200" y="2240280"/>
            <a:ext cx="4023360" cy="914400"/>
          </a:xfrm>
          <a:prstGeom prst="rect">
            <a:avLst/>
          </a:prstGeom>
          <a:noFill/>
          <a:ln/>
        </p:spPr>
        <p:txBody>
          <a:bodyPr wrap="square" lIns="0" tIns="0" rIns="0" bIns="0" rtlCol="0" anchor="t"/>
          <a:lstStyle/>
          <a:p>
            <a:pPr indent="0" marL="0">
              <a:buNone/>
            </a:pPr>
            <a:r>
              <a:rPr lang="en-US" sz="1600" dirty="0">
                <a:solidFill>
                  <a:srgbClr val="CBD5E1"/>
                </a:solidFill>
                <a:latin typeface="Calibri" pitchFamily="34" charset="0"/>
                <a:ea typeface="Calibri" pitchFamily="34" charset="-122"/>
                <a:cs typeface="Calibri" pitchFamily="34" charset="-120"/>
              </a:rPr>
              <a:t>Inventory management, delivered from a Git commit to a monitored Kubernetes cluster on AWS</a:t>
            </a:r>
            <a:endParaRPr lang="en-US" sz="1600" dirty="0"/>
          </a:p>
        </p:txBody>
      </p:sp>
      <p:sp>
        <p:nvSpPr>
          <p:cNvPr id="4" name="Text 2"/>
          <p:cNvSpPr txBox="1"/>
          <p:nvPr/>
        </p:nvSpPr>
        <p:spPr>
          <a:xfrm>
            <a:off x="457200" y="3977640"/>
            <a:ext cx="4023360" cy="5486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DevOps Final Capstone</a:t>
            </a:r>
            <a:endParaRPr lang="en-US" sz="1300" dirty="0"/>
          </a:p>
          <a:p>
            <a:pPr indent="0" marL="0">
              <a:buNone/>
            </a:pPr>
            <a:r>
              <a:rPr lang="en-US" sz="1300" dirty="0">
                <a:solidFill>
                  <a:srgbClr val="94A3B8"/>
                </a:solidFill>
                <a:latin typeface="Calibri" pitchFamily="34" charset="0"/>
                <a:ea typeface="Calibri" pitchFamily="34" charset="-122"/>
                <a:cs typeface="Calibri" pitchFamily="34" charset="-120"/>
              </a:rPr>
              <a:t>Dhruv  ·  October 2026</a:t>
            </a:r>
            <a:endParaRPr lang="en-US" sz="1300" dirty="0"/>
          </a:p>
        </p:txBody>
      </p:sp>
      <p:sp>
        <p:nvSpPr>
          <p:cNvPr id="5" name="frame-01-dashboard.png"/>
          <p:cNvSpPr/>
          <p:nvPr/>
        </p:nvSpPr>
        <p:spPr>
          <a:xfrm>
            <a:off x="4754880" y="1051560"/>
            <a:ext cx="4023360" cy="2551176"/>
          </a:xfrm>
          <a:prstGeom prst="roundRect">
            <a:avLst>
              <a:gd name="adj" fmla="val 2867"/>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6" name="01-dashboard.png" descr="/Users/dhruv/Desktop/DevOps-CapStone/docs/screenshots/01-dashboard.png">    </p:cNvPr>
          <p:cNvPicPr>
            <a:picLocks noChangeAspect="1"/>
          </p:cNvPicPr>
          <p:nvPr/>
        </p:nvPicPr>
        <p:blipFill>
          <a:blip r:embed="rId1"/>
          <a:stretch>
            <a:fillRect/>
          </a:stretch>
        </p:blipFill>
        <p:spPr>
          <a:xfrm>
            <a:off x="4800600" y="1097280"/>
            <a:ext cx="3931920" cy="24597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The application</a:t>
            </a:r>
            <a:endParaRPr lang="en-US" sz="3000" dirty="0"/>
          </a:p>
        </p:txBody>
      </p:sp>
      <p:sp>
        <p:nvSpPr>
          <p:cNvPr id="3" name="frame-01-dashboard.png"/>
          <p:cNvSpPr/>
          <p:nvPr/>
        </p:nvSpPr>
        <p:spPr>
          <a:xfrm>
            <a:off x="457200" y="1143000"/>
            <a:ext cx="4846320" cy="3063240"/>
          </a:xfrm>
          <a:prstGeom prst="roundRect">
            <a:avLst>
              <a:gd name="adj" fmla="val 2388"/>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4" name="01-dashboard.png" descr="/Users/dhruv/Desktop/DevOps-CapStone/docs/screenshots/01-dashboard.png">    </p:cNvPr>
          <p:cNvPicPr>
            <a:picLocks noChangeAspect="1"/>
          </p:cNvPicPr>
          <p:nvPr/>
        </p:nvPicPr>
        <p:blipFill>
          <a:blip r:embed="rId1"/>
          <a:stretch>
            <a:fillRect/>
          </a:stretch>
        </p:blipFill>
        <p:spPr>
          <a:xfrm>
            <a:off x="502920" y="1188720"/>
            <a:ext cx="4754880" cy="2971800"/>
          </a:xfrm>
          <a:prstGeom prst="rect">
            <a:avLst/>
          </a:prstGeom>
        </p:spPr>
      </p:pic>
      <p:sp>
        <p:nvSpPr>
          <p:cNvPr id="5" name="chip-1"/>
          <p:cNvSpPr/>
          <p:nvPr/>
        </p:nvSpPr>
        <p:spPr>
          <a:xfrm>
            <a:off x="5623560" y="1207008"/>
            <a:ext cx="329184" cy="329184"/>
          </a:xfrm>
          <a:prstGeom prst="ellipse">
            <a:avLst/>
          </a:prstGeom>
          <a:solidFill>
            <a:srgbClr val="4F46E5"/>
          </a:solidFill>
          <a:ln w="12700">
            <a:solidFill>
              <a:srgbClr val="4F46E5"/>
            </a:solidFill>
            <a:prstDash val="solid"/>
          </a:ln>
        </p:spPr>
      </p:sp>
      <p:sp>
        <p:nvSpPr>
          <p:cNvPr id="6" name="Text 3"/>
          <p:cNvSpPr txBox="1"/>
          <p:nvPr/>
        </p:nvSpPr>
        <p:spPr>
          <a:xfrm>
            <a:off x="5623560" y="12070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6080760" y="115214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React + Vite frontend</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Responsive dashboard, served by Nginx</a:t>
            </a:r>
            <a:endParaRPr lang="en-US" sz="1500" dirty="0"/>
          </a:p>
        </p:txBody>
      </p:sp>
      <p:sp>
        <p:nvSpPr>
          <p:cNvPr id="8" name="chip-2"/>
          <p:cNvSpPr/>
          <p:nvPr/>
        </p:nvSpPr>
        <p:spPr>
          <a:xfrm>
            <a:off x="5623560" y="1938528"/>
            <a:ext cx="329184" cy="329184"/>
          </a:xfrm>
          <a:prstGeom prst="ellipse">
            <a:avLst/>
          </a:prstGeom>
          <a:solidFill>
            <a:srgbClr val="4F46E5"/>
          </a:solidFill>
          <a:ln w="12700">
            <a:solidFill>
              <a:srgbClr val="4F46E5"/>
            </a:solidFill>
            <a:prstDash val="solid"/>
          </a:ln>
        </p:spPr>
      </p:sp>
      <p:sp>
        <p:nvSpPr>
          <p:cNvPr id="9" name="Text 6"/>
          <p:cNvSpPr txBox="1"/>
          <p:nvPr/>
        </p:nvSpPr>
        <p:spPr>
          <a:xfrm>
            <a:off x="562356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6080760" y="188366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FastAPI backend</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14 REST endpoints + /health, /ready, /metrics</a:t>
            </a:r>
            <a:endParaRPr lang="en-US" sz="1500" dirty="0"/>
          </a:p>
        </p:txBody>
      </p:sp>
      <p:sp>
        <p:nvSpPr>
          <p:cNvPr id="11" name="chip-3"/>
          <p:cNvSpPr/>
          <p:nvPr/>
        </p:nvSpPr>
        <p:spPr>
          <a:xfrm>
            <a:off x="5623560" y="2670048"/>
            <a:ext cx="329184" cy="329184"/>
          </a:xfrm>
          <a:prstGeom prst="ellipse">
            <a:avLst/>
          </a:prstGeom>
          <a:solidFill>
            <a:srgbClr val="4F46E5"/>
          </a:solidFill>
          <a:ln w="12700">
            <a:solidFill>
              <a:srgbClr val="4F46E5"/>
            </a:solidFill>
            <a:prstDash val="solid"/>
          </a:ln>
        </p:spPr>
      </p:sp>
      <p:sp>
        <p:nvSpPr>
          <p:cNvPr id="12" name="Text 9"/>
          <p:cNvSpPr txBox="1"/>
          <p:nvPr/>
        </p:nvSpPr>
        <p:spPr>
          <a:xfrm>
            <a:off x="5623560" y="2670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6080760" y="261518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PostgreSQL</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SQLAlchemy models, Alembic migrations</a:t>
            </a:r>
            <a:endParaRPr lang="en-US" sz="1500" dirty="0"/>
          </a:p>
        </p:txBody>
      </p:sp>
      <p:sp>
        <p:nvSpPr>
          <p:cNvPr id="14" name="chip-4"/>
          <p:cNvSpPr/>
          <p:nvPr/>
        </p:nvSpPr>
        <p:spPr>
          <a:xfrm>
            <a:off x="5623560" y="3401568"/>
            <a:ext cx="329184" cy="329184"/>
          </a:xfrm>
          <a:prstGeom prst="ellipse">
            <a:avLst/>
          </a:prstGeom>
          <a:solidFill>
            <a:srgbClr val="4F46E5"/>
          </a:solidFill>
          <a:ln w="12700">
            <a:solidFill>
              <a:srgbClr val="4F46E5"/>
            </a:solidFill>
            <a:prstDash val="solid"/>
          </a:ln>
        </p:spPr>
      </p:sp>
      <p:sp>
        <p:nvSpPr>
          <p:cNvPr id="15" name="Text 12"/>
          <p:cNvSpPr txBox="1"/>
          <p:nvPr/>
        </p:nvSpPr>
        <p:spPr>
          <a:xfrm>
            <a:off x="5623560" y="3401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6080760" y="334670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32 automated tests</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24 pytest + 8 Vitest, run on every push</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From commit to cluster</a:t>
            </a:r>
            <a:endParaRPr lang="en-US" sz="3000" dirty="0"/>
          </a:p>
        </p:txBody>
      </p:sp>
      <p:sp>
        <p:nvSpPr>
          <p:cNvPr id="3" name="step-Git push"/>
          <p:cNvSpPr/>
          <p:nvPr/>
        </p:nvSpPr>
        <p:spPr>
          <a:xfrm>
            <a:off x="502920" y="1417320"/>
            <a:ext cx="1024128" cy="731520"/>
          </a:xfrm>
          <a:prstGeom prst="roundRect">
            <a:avLst>
              <a:gd name="adj" fmla="val 12500"/>
            </a:avLst>
          </a:prstGeom>
          <a:solidFill>
            <a:srgbClr val="4F46E5"/>
          </a:solidFill>
          <a:ln w="12700">
            <a:solidFill>
              <a:srgbClr val="4F46E5"/>
            </a:solidFill>
            <a:prstDash val="solid"/>
          </a:ln>
        </p:spPr>
      </p:sp>
      <p:sp>
        <p:nvSpPr>
          <p:cNvPr id="4" name="Text 2"/>
          <p:cNvSpPr txBox="1"/>
          <p:nvPr/>
        </p:nvSpPr>
        <p:spPr>
          <a:xfrm>
            <a:off x="502920"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Git push</a:t>
            </a:r>
            <a:endParaRPr lang="en-US" sz="1300" dirty="0"/>
          </a:p>
        </p:txBody>
      </p:sp>
      <p:sp>
        <p:nvSpPr>
          <p:cNvPr id="5" name="Text 3"/>
          <p:cNvSpPr txBox="1"/>
          <p:nvPr/>
        </p:nvSpPr>
        <p:spPr>
          <a:xfrm>
            <a:off x="1527048"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6" name="step-Tests"/>
          <p:cNvSpPr/>
          <p:nvPr/>
        </p:nvSpPr>
        <p:spPr>
          <a:xfrm>
            <a:off x="1709928" y="1417320"/>
            <a:ext cx="1024128" cy="731520"/>
          </a:xfrm>
          <a:prstGeom prst="roundRect">
            <a:avLst>
              <a:gd name="adj" fmla="val 12500"/>
            </a:avLst>
          </a:prstGeom>
          <a:solidFill>
            <a:srgbClr val="4F46E5"/>
          </a:solidFill>
          <a:ln w="12700">
            <a:solidFill>
              <a:srgbClr val="4F46E5"/>
            </a:solidFill>
            <a:prstDash val="solid"/>
          </a:ln>
        </p:spPr>
      </p:sp>
      <p:sp>
        <p:nvSpPr>
          <p:cNvPr id="7" name="Text 5"/>
          <p:cNvSpPr txBox="1"/>
          <p:nvPr/>
        </p:nvSpPr>
        <p:spPr>
          <a:xfrm>
            <a:off x="1709928"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Tests</a:t>
            </a:r>
            <a:endParaRPr lang="en-US" sz="1300" dirty="0"/>
          </a:p>
        </p:txBody>
      </p:sp>
      <p:sp>
        <p:nvSpPr>
          <p:cNvPr id="8" name="Text 6"/>
          <p:cNvSpPr txBox="1"/>
          <p:nvPr/>
        </p:nvSpPr>
        <p:spPr>
          <a:xfrm>
            <a:off x="2734056"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9" name="step-Docker build"/>
          <p:cNvSpPr/>
          <p:nvPr/>
        </p:nvSpPr>
        <p:spPr>
          <a:xfrm>
            <a:off x="2916936" y="1417320"/>
            <a:ext cx="1024128" cy="731520"/>
          </a:xfrm>
          <a:prstGeom prst="roundRect">
            <a:avLst>
              <a:gd name="adj" fmla="val 12500"/>
            </a:avLst>
          </a:prstGeom>
          <a:solidFill>
            <a:srgbClr val="4F46E5"/>
          </a:solidFill>
          <a:ln w="12700">
            <a:solidFill>
              <a:srgbClr val="4F46E5"/>
            </a:solidFill>
            <a:prstDash val="solid"/>
          </a:ln>
        </p:spPr>
      </p:sp>
      <p:sp>
        <p:nvSpPr>
          <p:cNvPr id="10" name="Text 8"/>
          <p:cNvSpPr txBox="1"/>
          <p:nvPr/>
        </p:nvSpPr>
        <p:spPr>
          <a:xfrm>
            <a:off x="2916936"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Docker build</a:t>
            </a:r>
            <a:endParaRPr lang="en-US" sz="1300" dirty="0"/>
          </a:p>
        </p:txBody>
      </p:sp>
      <p:sp>
        <p:nvSpPr>
          <p:cNvPr id="11" name="Text 9"/>
          <p:cNvSpPr txBox="1"/>
          <p:nvPr/>
        </p:nvSpPr>
        <p:spPr>
          <a:xfrm>
            <a:off x="3941064"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12" name="step-Trivy scan"/>
          <p:cNvSpPr/>
          <p:nvPr/>
        </p:nvSpPr>
        <p:spPr>
          <a:xfrm>
            <a:off x="4123944" y="1417320"/>
            <a:ext cx="1024128" cy="731520"/>
          </a:xfrm>
          <a:prstGeom prst="roundRect">
            <a:avLst>
              <a:gd name="adj" fmla="val 12500"/>
            </a:avLst>
          </a:prstGeom>
          <a:solidFill>
            <a:srgbClr val="0F172A"/>
          </a:solidFill>
          <a:ln w="12700">
            <a:solidFill>
              <a:srgbClr val="0F172A"/>
            </a:solidFill>
            <a:prstDash val="solid"/>
          </a:ln>
        </p:spPr>
      </p:sp>
      <p:sp>
        <p:nvSpPr>
          <p:cNvPr id="13" name="Text 11"/>
          <p:cNvSpPr txBox="1"/>
          <p:nvPr/>
        </p:nvSpPr>
        <p:spPr>
          <a:xfrm>
            <a:off x="4123944"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Trivy scan</a:t>
            </a:r>
            <a:endParaRPr lang="en-US" sz="1300" dirty="0"/>
          </a:p>
        </p:txBody>
      </p:sp>
      <p:sp>
        <p:nvSpPr>
          <p:cNvPr id="14" name="Text 12"/>
          <p:cNvSpPr txBox="1"/>
          <p:nvPr/>
        </p:nvSpPr>
        <p:spPr>
          <a:xfrm>
            <a:off x="5148072"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15" name="step-GHCR"/>
          <p:cNvSpPr/>
          <p:nvPr/>
        </p:nvSpPr>
        <p:spPr>
          <a:xfrm>
            <a:off x="5330952" y="1417320"/>
            <a:ext cx="1024128" cy="731520"/>
          </a:xfrm>
          <a:prstGeom prst="roundRect">
            <a:avLst>
              <a:gd name="adj" fmla="val 12500"/>
            </a:avLst>
          </a:prstGeom>
          <a:solidFill>
            <a:srgbClr val="4F46E5"/>
          </a:solidFill>
          <a:ln w="12700">
            <a:solidFill>
              <a:srgbClr val="4F46E5"/>
            </a:solidFill>
            <a:prstDash val="solid"/>
          </a:ln>
        </p:spPr>
      </p:sp>
      <p:sp>
        <p:nvSpPr>
          <p:cNvPr id="16" name="Text 14"/>
          <p:cNvSpPr txBox="1"/>
          <p:nvPr/>
        </p:nvSpPr>
        <p:spPr>
          <a:xfrm>
            <a:off x="5330952"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GHCR</a:t>
            </a:r>
            <a:endParaRPr lang="en-US" sz="1300" dirty="0"/>
          </a:p>
        </p:txBody>
      </p:sp>
      <p:sp>
        <p:nvSpPr>
          <p:cNvPr id="17" name="Text 15"/>
          <p:cNvSpPr txBox="1"/>
          <p:nvPr/>
        </p:nvSpPr>
        <p:spPr>
          <a:xfrm>
            <a:off x="6355080"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18" name="step-Helm"/>
          <p:cNvSpPr/>
          <p:nvPr/>
        </p:nvSpPr>
        <p:spPr>
          <a:xfrm>
            <a:off x="6537960" y="1417320"/>
            <a:ext cx="1024128" cy="731520"/>
          </a:xfrm>
          <a:prstGeom prst="roundRect">
            <a:avLst>
              <a:gd name="adj" fmla="val 12500"/>
            </a:avLst>
          </a:prstGeom>
          <a:solidFill>
            <a:srgbClr val="4F46E5"/>
          </a:solidFill>
          <a:ln w="12700">
            <a:solidFill>
              <a:srgbClr val="4F46E5"/>
            </a:solidFill>
            <a:prstDash val="solid"/>
          </a:ln>
        </p:spPr>
      </p:sp>
      <p:sp>
        <p:nvSpPr>
          <p:cNvPr id="19" name="Text 17"/>
          <p:cNvSpPr txBox="1"/>
          <p:nvPr/>
        </p:nvSpPr>
        <p:spPr>
          <a:xfrm>
            <a:off x="6537960"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Helm</a:t>
            </a:r>
            <a:endParaRPr lang="en-US" sz="1300" dirty="0"/>
          </a:p>
        </p:txBody>
      </p:sp>
      <p:sp>
        <p:nvSpPr>
          <p:cNvPr id="20" name="Text 18"/>
          <p:cNvSpPr txBox="1"/>
          <p:nvPr/>
        </p:nvSpPr>
        <p:spPr>
          <a:xfrm>
            <a:off x="7562088" y="1417320"/>
            <a:ext cx="182880" cy="731520"/>
          </a:xfrm>
          <a:prstGeom prst="rect">
            <a:avLst/>
          </a:prstGeom>
          <a:noFill/>
          <a:ln/>
        </p:spPr>
        <p:txBody>
          <a:bodyPr wrap="square" lIns="0" tIns="0" rIns="0" bIns="0" rtlCol="0" anchor="ctr"/>
          <a:lstStyle/>
          <a:p>
            <a:pPr algn="ctr" indent="0" marL="0">
              <a:buNone/>
            </a:pPr>
            <a:r>
              <a:rPr lang="en-US" sz="2000" b="1" dirty="0">
                <a:solidFill>
                  <a:srgbClr val="94A3B8"/>
                </a:solidFill>
                <a:latin typeface="Calibri" pitchFamily="34" charset="0"/>
                <a:ea typeface="Calibri" pitchFamily="34" charset="-122"/>
                <a:cs typeface="Calibri" pitchFamily="34" charset="-120"/>
              </a:rPr>
              <a:t>›</a:t>
            </a:r>
            <a:endParaRPr lang="en-US" sz="2000" dirty="0"/>
          </a:p>
        </p:txBody>
      </p:sp>
      <p:sp>
        <p:nvSpPr>
          <p:cNvPr id="21" name="step-EKS"/>
          <p:cNvSpPr/>
          <p:nvPr/>
        </p:nvSpPr>
        <p:spPr>
          <a:xfrm>
            <a:off x="7744968" y="1417320"/>
            <a:ext cx="1024128" cy="731520"/>
          </a:xfrm>
          <a:prstGeom prst="roundRect">
            <a:avLst>
              <a:gd name="adj" fmla="val 12500"/>
            </a:avLst>
          </a:prstGeom>
          <a:solidFill>
            <a:srgbClr val="059669"/>
          </a:solidFill>
          <a:ln w="12700">
            <a:solidFill>
              <a:srgbClr val="059669"/>
            </a:solidFill>
            <a:prstDash val="solid"/>
          </a:ln>
        </p:spPr>
      </p:sp>
      <p:sp>
        <p:nvSpPr>
          <p:cNvPr id="22" name="Text 20"/>
          <p:cNvSpPr txBox="1"/>
          <p:nvPr/>
        </p:nvSpPr>
        <p:spPr>
          <a:xfrm>
            <a:off x="7744968" y="1417320"/>
            <a:ext cx="1024128" cy="7315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EKS</a:t>
            </a:r>
            <a:endParaRPr lang="en-US" sz="1300" dirty="0"/>
          </a:p>
        </p:txBody>
      </p:sp>
      <p:sp>
        <p:nvSpPr>
          <p:cNvPr id="23" name="Text 21"/>
          <p:cNvSpPr txBox="1"/>
          <p:nvPr/>
        </p:nvSpPr>
        <p:spPr>
          <a:xfrm>
            <a:off x="502920" y="2240280"/>
            <a:ext cx="4645152" cy="274320"/>
          </a:xfrm>
          <a:prstGeom prst="rect">
            <a:avLst/>
          </a:prstGeom>
          <a:noFill/>
          <a:ln/>
        </p:spPr>
        <p:txBody>
          <a:bodyPr wrap="square" lIns="0" tIns="0" rIns="0" bIns="0"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GitHub Actions</a:t>
            </a:r>
            <a:endParaRPr lang="en-US" sz="1200" dirty="0"/>
          </a:p>
        </p:txBody>
      </p:sp>
      <p:sp>
        <p:nvSpPr>
          <p:cNvPr id="24" name="Text 22"/>
          <p:cNvSpPr txBox="1"/>
          <p:nvPr/>
        </p:nvSpPr>
        <p:spPr>
          <a:xfrm>
            <a:off x="6537960" y="2240280"/>
            <a:ext cx="2231136" cy="274320"/>
          </a:xfrm>
          <a:prstGeom prst="rect">
            <a:avLst/>
          </a:prstGeom>
          <a:noFill/>
          <a:ln/>
        </p:spPr>
        <p:txBody>
          <a:bodyPr wrap="square" lIns="0" tIns="0" rIns="0" bIns="0" rtlCol="0" anchor="ctr"/>
          <a:lstStyle/>
          <a:p>
            <a:pPr algn="ctr" indent="0" marL="0">
              <a:buNone/>
            </a:pPr>
            <a:r>
              <a:rPr lang="en-US" sz="1200" i="1" dirty="0">
                <a:solidFill>
                  <a:srgbClr val="475569"/>
                </a:solidFill>
                <a:latin typeface="Calibri" pitchFamily="34" charset="0"/>
                <a:ea typeface="Calibri" pitchFamily="34" charset="-122"/>
                <a:cs typeface="Calibri" pitchFamily="34" charset="-120"/>
              </a:rPr>
              <a:t>Terraform-built AWS</a:t>
            </a:r>
            <a:endParaRPr lang="en-US" sz="1200" dirty="0"/>
          </a:p>
        </p:txBody>
      </p:sp>
      <p:sp>
        <p:nvSpPr>
          <p:cNvPr id="25" name="stat-is the image tag on every build"/>
          <p:cNvSpPr/>
          <p:nvPr/>
        </p:nvSpPr>
        <p:spPr>
          <a:xfrm>
            <a:off x="502920" y="2971800"/>
            <a:ext cx="2606040" cy="914400"/>
          </a:xfrm>
          <a:prstGeom prst="roundRect">
            <a:avLst>
              <a:gd name="adj" fmla="val 8000"/>
            </a:avLst>
          </a:prstGeom>
          <a:solidFill>
            <a:srgbClr val="EEF2FF"/>
          </a:solidFill>
          <a:ln w="12700">
            <a:solidFill>
              <a:srgbClr val="EEF2FF"/>
            </a:solidFill>
            <a:prstDash val="solid"/>
          </a:ln>
        </p:spPr>
      </p:sp>
      <p:sp>
        <p:nvSpPr>
          <p:cNvPr id="26" name="Text 24"/>
          <p:cNvSpPr txBox="1"/>
          <p:nvPr/>
        </p:nvSpPr>
        <p:spPr>
          <a:xfrm>
            <a:off x="685800" y="3044952"/>
            <a:ext cx="2240280" cy="502920"/>
          </a:xfrm>
          <a:prstGeom prst="rect">
            <a:avLst/>
          </a:prstGeom>
          <a:noFill/>
          <a:ln/>
        </p:spPr>
        <p:txBody>
          <a:bodyPr wrap="square" lIns="0" tIns="0" rIns="0" bIns="0" rtlCol="0" anchor="ctr"/>
          <a:lstStyle/>
          <a:p>
            <a:pPr indent="0" marL="0">
              <a:buNone/>
            </a:pPr>
            <a:r>
              <a:rPr lang="en-US" sz="2200" b="1" dirty="0">
                <a:solidFill>
                  <a:srgbClr val="4F46E5"/>
                </a:solidFill>
                <a:latin typeface="Cambria" pitchFamily="34" charset="0"/>
                <a:ea typeface="Cambria" pitchFamily="34" charset="-122"/>
                <a:cs typeface="Cambria" pitchFamily="34" charset="-120"/>
              </a:rPr>
              <a:t>Commit SHA</a:t>
            </a:r>
            <a:endParaRPr lang="en-US" sz="2200" dirty="0"/>
          </a:p>
        </p:txBody>
      </p:sp>
      <p:sp>
        <p:nvSpPr>
          <p:cNvPr id="27" name="Text 25"/>
          <p:cNvSpPr txBox="1"/>
          <p:nvPr/>
        </p:nvSpPr>
        <p:spPr>
          <a:xfrm>
            <a:off x="685800" y="3538728"/>
            <a:ext cx="22402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is the image tag on every build</a:t>
            </a:r>
            <a:endParaRPr lang="en-US" sz="1200" dirty="0"/>
          </a:p>
        </p:txBody>
      </p:sp>
      <p:sp>
        <p:nvSpPr>
          <p:cNvPr id="28" name="stat-failed test or CVE = no release"/>
          <p:cNvSpPr/>
          <p:nvPr/>
        </p:nvSpPr>
        <p:spPr>
          <a:xfrm>
            <a:off x="3268980" y="2971800"/>
            <a:ext cx="2606040" cy="914400"/>
          </a:xfrm>
          <a:prstGeom prst="roundRect">
            <a:avLst>
              <a:gd name="adj" fmla="val 8000"/>
            </a:avLst>
          </a:prstGeom>
          <a:solidFill>
            <a:srgbClr val="EEF2FF"/>
          </a:solidFill>
          <a:ln w="12700">
            <a:solidFill>
              <a:srgbClr val="EEF2FF"/>
            </a:solidFill>
            <a:prstDash val="solid"/>
          </a:ln>
        </p:spPr>
      </p:sp>
      <p:sp>
        <p:nvSpPr>
          <p:cNvPr id="29" name="Text 27"/>
          <p:cNvSpPr txBox="1"/>
          <p:nvPr/>
        </p:nvSpPr>
        <p:spPr>
          <a:xfrm>
            <a:off x="3451860" y="3044952"/>
            <a:ext cx="2240280" cy="502920"/>
          </a:xfrm>
          <a:prstGeom prst="rect">
            <a:avLst/>
          </a:prstGeom>
          <a:noFill/>
          <a:ln/>
        </p:spPr>
        <p:txBody>
          <a:bodyPr wrap="square" lIns="0" tIns="0" rIns="0" bIns="0" rtlCol="0" anchor="ctr"/>
          <a:lstStyle/>
          <a:p>
            <a:pPr indent="0" marL="0">
              <a:buNone/>
            </a:pPr>
            <a:r>
              <a:rPr lang="en-US" sz="2200" b="1" dirty="0">
                <a:solidFill>
                  <a:srgbClr val="4F46E5"/>
                </a:solidFill>
                <a:latin typeface="Cambria" pitchFamily="34" charset="0"/>
                <a:ea typeface="Cambria" pitchFamily="34" charset="-122"/>
                <a:cs typeface="Cambria" pitchFamily="34" charset="-120"/>
              </a:rPr>
              <a:t>Quality gate</a:t>
            </a:r>
            <a:endParaRPr lang="en-US" sz="2200" dirty="0"/>
          </a:p>
        </p:txBody>
      </p:sp>
      <p:sp>
        <p:nvSpPr>
          <p:cNvPr id="30" name="Text 28"/>
          <p:cNvSpPr txBox="1"/>
          <p:nvPr/>
        </p:nvSpPr>
        <p:spPr>
          <a:xfrm>
            <a:off x="3451860" y="3538728"/>
            <a:ext cx="22402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failed test or CVE = no release</a:t>
            </a:r>
            <a:endParaRPr lang="en-US" sz="1200" dirty="0"/>
          </a:p>
        </p:txBody>
      </p:sp>
      <p:sp>
        <p:nvSpPr>
          <p:cNvPr id="31" name="stat-OIDC to AWS, no stored access keys"/>
          <p:cNvSpPr/>
          <p:nvPr/>
        </p:nvSpPr>
        <p:spPr>
          <a:xfrm>
            <a:off x="6035040" y="2971800"/>
            <a:ext cx="2606040" cy="914400"/>
          </a:xfrm>
          <a:prstGeom prst="roundRect">
            <a:avLst>
              <a:gd name="adj" fmla="val 8000"/>
            </a:avLst>
          </a:prstGeom>
          <a:solidFill>
            <a:srgbClr val="ECFDF5"/>
          </a:solidFill>
          <a:ln w="12700">
            <a:solidFill>
              <a:srgbClr val="ECFDF5"/>
            </a:solidFill>
            <a:prstDash val="solid"/>
          </a:ln>
        </p:spPr>
      </p:sp>
      <p:sp>
        <p:nvSpPr>
          <p:cNvPr id="32" name="Text 30"/>
          <p:cNvSpPr txBox="1"/>
          <p:nvPr/>
        </p:nvSpPr>
        <p:spPr>
          <a:xfrm>
            <a:off x="6217920" y="3044952"/>
            <a:ext cx="2240280" cy="502920"/>
          </a:xfrm>
          <a:prstGeom prst="rect">
            <a:avLst/>
          </a:prstGeom>
          <a:noFill/>
          <a:ln/>
        </p:spPr>
        <p:txBody>
          <a:bodyPr wrap="square" lIns="0" tIns="0" rIns="0" bIns="0" rtlCol="0" anchor="ctr"/>
          <a:lstStyle/>
          <a:p>
            <a:pPr indent="0" marL="0">
              <a:buNone/>
            </a:pPr>
            <a:r>
              <a:rPr lang="en-US" sz="2200" b="1" dirty="0">
                <a:solidFill>
                  <a:srgbClr val="059669"/>
                </a:solidFill>
                <a:latin typeface="Cambria" pitchFamily="34" charset="0"/>
                <a:ea typeface="Cambria" pitchFamily="34" charset="-122"/>
                <a:cs typeface="Cambria" pitchFamily="34" charset="-120"/>
              </a:rPr>
              <a:t>Keyless</a:t>
            </a:r>
            <a:endParaRPr lang="en-US" sz="2200" dirty="0"/>
          </a:p>
        </p:txBody>
      </p:sp>
      <p:sp>
        <p:nvSpPr>
          <p:cNvPr id="33" name="Text 31"/>
          <p:cNvSpPr txBox="1"/>
          <p:nvPr/>
        </p:nvSpPr>
        <p:spPr>
          <a:xfrm>
            <a:off x="6217920" y="3538728"/>
            <a:ext cx="22402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OIDC to AWS, no stored access keys</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CI/CD and security</a:t>
            </a:r>
            <a:endParaRPr lang="en-US" sz="3000" dirty="0"/>
          </a:p>
        </p:txBody>
      </p:sp>
      <p:sp>
        <p:nvSpPr>
          <p:cNvPr id="3" name="frame-06-github-actions.png"/>
          <p:cNvSpPr/>
          <p:nvPr/>
        </p:nvSpPr>
        <p:spPr>
          <a:xfrm>
            <a:off x="457200" y="1143000"/>
            <a:ext cx="4846320" cy="3063240"/>
          </a:xfrm>
          <a:prstGeom prst="roundRect">
            <a:avLst>
              <a:gd name="adj" fmla="val 2388"/>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4" name="06-github-actions.png" descr="/Users/dhruv/Desktop/DevOps-CapStone/docs/screenshots/06-github-actions.png">    </p:cNvPr>
          <p:cNvPicPr>
            <a:picLocks noChangeAspect="1"/>
          </p:cNvPicPr>
          <p:nvPr/>
        </p:nvPicPr>
        <p:blipFill>
          <a:blip r:embed="rId1"/>
          <a:stretch>
            <a:fillRect/>
          </a:stretch>
        </p:blipFill>
        <p:spPr>
          <a:xfrm>
            <a:off x="502920" y="1188720"/>
            <a:ext cx="4754880" cy="2971800"/>
          </a:xfrm>
          <a:prstGeom prst="rect">
            <a:avLst/>
          </a:prstGeom>
        </p:spPr>
      </p:pic>
      <p:sp>
        <p:nvSpPr>
          <p:cNvPr id="5" name="stat-green, ending in the EKS deploy"/>
          <p:cNvSpPr/>
          <p:nvPr/>
        </p:nvSpPr>
        <p:spPr>
          <a:xfrm>
            <a:off x="5623560" y="1188720"/>
            <a:ext cx="3063240" cy="914400"/>
          </a:xfrm>
          <a:prstGeom prst="roundRect">
            <a:avLst>
              <a:gd name="adj" fmla="val 8000"/>
            </a:avLst>
          </a:prstGeom>
          <a:solidFill>
            <a:srgbClr val="ECFDF5"/>
          </a:solidFill>
          <a:ln w="12700">
            <a:solidFill>
              <a:srgbClr val="ECFDF5"/>
            </a:solidFill>
            <a:prstDash val="solid"/>
          </a:ln>
        </p:spPr>
      </p:sp>
      <p:sp>
        <p:nvSpPr>
          <p:cNvPr id="6" name="Text 3"/>
          <p:cNvSpPr txBox="1"/>
          <p:nvPr/>
        </p:nvSpPr>
        <p:spPr>
          <a:xfrm>
            <a:off x="5806440" y="1261872"/>
            <a:ext cx="2697480" cy="502920"/>
          </a:xfrm>
          <a:prstGeom prst="rect">
            <a:avLst/>
          </a:prstGeom>
          <a:noFill/>
          <a:ln/>
        </p:spPr>
        <p:txBody>
          <a:bodyPr wrap="square" lIns="0" tIns="0" rIns="0" bIns="0" rtlCol="0" anchor="ctr"/>
          <a:lstStyle/>
          <a:p>
            <a:pPr indent="0" marL="0">
              <a:buNone/>
            </a:pPr>
            <a:r>
              <a:rPr lang="en-US" sz="2800" b="1" dirty="0">
                <a:solidFill>
                  <a:srgbClr val="059669"/>
                </a:solidFill>
                <a:latin typeface="Cambria" pitchFamily="34" charset="0"/>
                <a:ea typeface="Cambria" pitchFamily="34" charset="-122"/>
                <a:cs typeface="Cambria" pitchFamily="34" charset="-120"/>
              </a:rPr>
              <a:t>6 / 6 jobs</a:t>
            </a:r>
            <a:endParaRPr lang="en-US" sz="2800" dirty="0"/>
          </a:p>
        </p:txBody>
      </p:sp>
      <p:sp>
        <p:nvSpPr>
          <p:cNvPr id="7" name="Text 4"/>
          <p:cNvSpPr txBox="1"/>
          <p:nvPr/>
        </p:nvSpPr>
        <p:spPr>
          <a:xfrm>
            <a:off x="5806440" y="1755648"/>
            <a:ext cx="26974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green, ending in the EKS deploy</a:t>
            </a:r>
            <a:endParaRPr lang="en-US" sz="1200" dirty="0"/>
          </a:p>
        </p:txBody>
      </p:sp>
      <p:sp>
        <p:nvSpPr>
          <p:cNvPr id="8" name="stat-HIGH/CRITICAL CVEs, both images"/>
          <p:cNvSpPr/>
          <p:nvPr/>
        </p:nvSpPr>
        <p:spPr>
          <a:xfrm>
            <a:off x="5623560" y="2240280"/>
            <a:ext cx="3063240" cy="914400"/>
          </a:xfrm>
          <a:prstGeom prst="roundRect">
            <a:avLst>
              <a:gd name="adj" fmla="val 8000"/>
            </a:avLst>
          </a:prstGeom>
          <a:solidFill>
            <a:srgbClr val="EEF2FF"/>
          </a:solidFill>
          <a:ln w="12700">
            <a:solidFill>
              <a:srgbClr val="EEF2FF"/>
            </a:solidFill>
            <a:prstDash val="solid"/>
          </a:ln>
        </p:spPr>
      </p:sp>
      <p:sp>
        <p:nvSpPr>
          <p:cNvPr id="9" name="Text 6"/>
          <p:cNvSpPr txBox="1"/>
          <p:nvPr/>
        </p:nvSpPr>
        <p:spPr>
          <a:xfrm>
            <a:off x="5806440" y="2313432"/>
            <a:ext cx="2697480" cy="502920"/>
          </a:xfrm>
          <a:prstGeom prst="rect">
            <a:avLst/>
          </a:prstGeom>
          <a:noFill/>
          <a:ln/>
        </p:spPr>
        <p:txBody>
          <a:bodyPr wrap="square" lIns="0" tIns="0" rIns="0" bIns="0" rtlCol="0" anchor="ctr"/>
          <a:lstStyle/>
          <a:p>
            <a:pPr indent="0" marL="0">
              <a:buNone/>
            </a:pPr>
            <a:r>
              <a:rPr lang="en-US" sz="2800" b="1" dirty="0">
                <a:solidFill>
                  <a:srgbClr val="4F46E5"/>
                </a:solidFill>
                <a:latin typeface="Cambria" pitchFamily="34" charset="0"/>
                <a:ea typeface="Cambria" pitchFamily="34" charset="-122"/>
                <a:cs typeface="Cambria" pitchFamily="34" charset="-120"/>
              </a:rPr>
              <a:t>0</a:t>
            </a:r>
            <a:endParaRPr lang="en-US" sz="2800" dirty="0"/>
          </a:p>
        </p:txBody>
      </p:sp>
      <p:sp>
        <p:nvSpPr>
          <p:cNvPr id="10" name="Text 7"/>
          <p:cNvSpPr txBox="1"/>
          <p:nvPr/>
        </p:nvSpPr>
        <p:spPr>
          <a:xfrm>
            <a:off x="5806440" y="2807208"/>
            <a:ext cx="26974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HIGH/CRITICAL CVEs, both images</a:t>
            </a:r>
            <a:endParaRPr lang="en-US" sz="1200" dirty="0"/>
          </a:p>
        </p:txBody>
      </p:sp>
      <p:sp>
        <p:nvSpPr>
          <p:cNvPr id="11" name="stat-every third-party GitHub Action"/>
          <p:cNvSpPr/>
          <p:nvPr/>
        </p:nvSpPr>
        <p:spPr>
          <a:xfrm>
            <a:off x="5623560" y="3291840"/>
            <a:ext cx="3063240" cy="914400"/>
          </a:xfrm>
          <a:prstGeom prst="roundRect">
            <a:avLst>
              <a:gd name="adj" fmla="val 8000"/>
            </a:avLst>
          </a:prstGeom>
          <a:solidFill>
            <a:srgbClr val="EEF2FF"/>
          </a:solidFill>
          <a:ln w="12700">
            <a:solidFill>
              <a:srgbClr val="EEF2FF"/>
            </a:solidFill>
            <a:prstDash val="solid"/>
          </a:ln>
        </p:spPr>
      </p:sp>
      <p:sp>
        <p:nvSpPr>
          <p:cNvPr id="12" name="Text 9"/>
          <p:cNvSpPr txBox="1"/>
          <p:nvPr/>
        </p:nvSpPr>
        <p:spPr>
          <a:xfrm>
            <a:off x="5806440" y="3364992"/>
            <a:ext cx="2697480" cy="502920"/>
          </a:xfrm>
          <a:prstGeom prst="rect">
            <a:avLst/>
          </a:prstGeom>
          <a:noFill/>
          <a:ln/>
        </p:spPr>
        <p:txBody>
          <a:bodyPr wrap="square" lIns="0" tIns="0" rIns="0" bIns="0" rtlCol="0" anchor="ctr"/>
          <a:lstStyle/>
          <a:p>
            <a:pPr indent="0" marL="0">
              <a:buNone/>
            </a:pPr>
            <a:r>
              <a:rPr lang="en-US" sz="2800" b="1" dirty="0">
                <a:solidFill>
                  <a:srgbClr val="4F46E5"/>
                </a:solidFill>
                <a:latin typeface="Cambria" pitchFamily="34" charset="0"/>
                <a:ea typeface="Cambria" pitchFamily="34" charset="-122"/>
                <a:cs typeface="Cambria" pitchFamily="34" charset="-120"/>
              </a:rPr>
              <a:t>SHA-pinned</a:t>
            </a:r>
            <a:endParaRPr lang="en-US" sz="2800" dirty="0"/>
          </a:p>
        </p:txBody>
      </p:sp>
      <p:sp>
        <p:nvSpPr>
          <p:cNvPr id="13" name="Text 10"/>
          <p:cNvSpPr txBox="1"/>
          <p:nvPr/>
        </p:nvSpPr>
        <p:spPr>
          <a:xfrm>
            <a:off x="5806440" y="3858768"/>
            <a:ext cx="269748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every third-party GitHub Action</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Infrastructure as code</a:t>
            </a:r>
            <a:endParaRPr lang="en-US" sz="3000" dirty="0"/>
          </a:p>
        </p:txBody>
      </p:sp>
      <p:sp>
        <p:nvSpPr>
          <p:cNvPr id="3" name="chip-1"/>
          <p:cNvSpPr/>
          <p:nvPr/>
        </p:nvSpPr>
        <p:spPr>
          <a:xfrm>
            <a:off x="502920" y="1207008"/>
            <a:ext cx="329184" cy="329184"/>
          </a:xfrm>
          <a:prstGeom prst="ellipse">
            <a:avLst/>
          </a:prstGeom>
          <a:solidFill>
            <a:srgbClr val="4F46E5"/>
          </a:solidFill>
          <a:ln w="12700">
            <a:solidFill>
              <a:srgbClr val="4F46E5"/>
            </a:solidFill>
            <a:prstDash val="solid"/>
          </a:ln>
        </p:spPr>
      </p:sp>
      <p:sp>
        <p:nvSpPr>
          <p:cNvPr id="4" name="Text 2"/>
          <p:cNvSpPr txBox="1"/>
          <p:nvPr/>
        </p:nvSpPr>
        <p:spPr>
          <a:xfrm>
            <a:off x="502920" y="12070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5" name="Text 3"/>
          <p:cNvSpPr txBox="1"/>
          <p:nvPr/>
        </p:nvSpPr>
        <p:spPr>
          <a:xfrm>
            <a:off x="960120" y="1152144"/>
            <a:ext cx="292608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VPC across 2 AZs</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Public subnets + NAT, private subnets for nodes</a:t>
            </a:r>
            <a:endParaRPr lang="en-US" sz="1500" dirty="0"/>
          </a:p>
        </p:txBody>
      </p:sp>
      <p:sp>
        <p:nvSpPr>
          <p:cNvPr id="6" name="chip-2"/>
          <p:cNvSpPr/>
          <p:nvPr/>
        </p:nvSpPr>
        <p:spPr>
          <a:xfrm>
            <a:off x="502920" y="1938528"/>
            <a:ext cx="329184" cy="329184"/>
          </a:xfrm>
          <a:prstGeom prst="ellipse">
            <a:avLst/>
          </a:prstGeom>
          <a:solidFill>
            <a:srgbClr val="4F46E5"/>
          </a:solidFill>
          <a:ln w="12700">
            <a:solidFill>
              <a:srgbClr val="4F46E5"/>
            </a:solidFill>
            <a:prstDash val="solid"/>
          </a:ln>
        </p:spPr>
      </p:sp>
      <p:sp>
        <p:nvSpPr>
          <p:cNvPr id="7" name="Text 5"/>
          <p:cNvSpPr txBox="1"/>
          <p:nvPr/>
        </p:nvSpPr>
        <p:spPr>
          <a:xfrm>
            <a:off x="502920" y="19385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8" name="Text 6"/>
          <p:cNvSpPr txBox="1"/>
          <p:nvPr/>
        </p:nvSpPr>
        <p:spPr>
          <a:xfrm>
            <a:off x="960120" y="1883664"/>
            <a:ext cx="292608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EKS 1.34 + managed nodes</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VPC-CNI, CoreDNS, EBS CSI via Pod Identity</a:t>
            </a:r>
            <a:endParaRPr lang="en-US" sz="1500" dirty="0"/>
          </a:p>
        </p:txBody>
      </p:sp>
      <p:sp>
        <p:nvSpPr>
          <p:cNvPr id="9" name="chip-3"/>
          <p:cNvSpPr/>
          <p:nvPr/>
        </p:nvSpPr>
        <p:spPr>
          <a:xfrm>
            <a:off x="502920" y="2670048"/>
            <a:ext cx="329184" cy="329184"/>
          </a:xfrm>
          <a:prstGeom prst="ellipse">
            <a:avLst/>
          </a:prstGeom>
          <a:solidFill>
            <a:srgbClr val="4F46E5"/>
          </a:solidFill>
          <a:ln w="12700">
            <a:solidFill>
              <a:srgbClr val="4F46E5"/>
            </a:solidFill>
            <a:prstDash val="solid"/>
          </a:ln>
        </p:spPr>
      </p:sp>
      <p:sp>
        <p:nvSpPr>
          <p:cNvPr id="10" name="Text 8"/>
          <p:cNvSpPr txBox="1"/>
          <p:nvPr/>
        </p:nvSpPr>
        <p:spPr>
          <a:xfrm>
            <a:off x="502920" y="26700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960120" y="2615184"/>
            <a:ext cx="292608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GitHub OIDC deploy role</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Scoped to main and the production environment</a:t>
            </a:r>
            <a:endParaRPr lang="en-US" sz="1500" dirty="0"/>
          </a:p>
        </p:txBody>
      </p:sp>
      <p:sp>
        <p:nvSpPr>
          <p:cNvPr id="12" name="chip-4"/>
          <p:cNvSpPr/>
          <p:nvPr/>
        </p:nvSpPr>
        <p:spPr>
          <a:xfrm>
            <a:off x="502920" y="3401568"/>
            <a:ext cx="329184" cy="329184"/>
          </a:xfrm>
          <a:prstGeom prst="ellipse">
            <a:avLst/>
          </a:prstGeom>
          <a:solidFill>
            <a:srgbClr val="4F46E5"/>
          </a:solidFill>
          <a:ln w="12700">
            <a:solidFill>
              <a:srgbClr val="4F46E5"/>
            </a:solidFill>
            <a:prstDash val="solid"/>
          </a:ln>
        </p:spPr>
      </p:sp>
      <p:sp>
        <p:nvSpPr>
          <p:cNvPr id="13" name="Text 11"/>
          <p:cNvSpPr txBox="1"/>
          <p:nvPr/>
        </p:nvSpPr>
        <p:spPr>
          <a:xfrm>
            <a:off x="502920" y="340156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4" name="Text 12"/>
          <p:cNvSpPr txBox="1"/>
          <p:nvPr/>
        </p:nvSpPr>
        <p:spPr>
          <a:xfrm>
            <a:off x="960120" y="3346704"/>
            <a:ext cx="292608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64 resources, one command</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terraform plan, apply, and destroy when done</a:t>
            </a:r>
            <a:endParaRPr lang="en-US" sz="1500" dirty="0"/>
          </a:p>
        </p:txBody>
      </p:sp>
      <p:sp>
        <p:nvSpPr>
          <p:cNvPr id="15" name="frame-12-terraform-aws.png"/>
          <p:cNvSpPr/>
          <p:nvPr/>
        </p:nvSpPr>
        <p:spPr>
          <a:xfrm>
            <a:off x="4114800" y="1143000"/>
            <a:ext cx="4617720" cy="3172968"/>
          </a:xfrm>
          <a:prstGeom prst="roundRect">
            <a:avLst>
              <a:gd name="adj" fmla="val 2305"/>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16" name="12-terraform-aws.png" descr="/Users/dhruv/Desktop/DevOps-CapStone/docs/screenshots/12-terraform-aws.png">    </p:cNvPr>
          <p:cNvPicPr>
            <a:picLocks noChangeAspect="1"/>
          </p:cNvPicPr>
          <p:nvPr/>
        </p:nvPicPr>
        <p:blipFill>
          <a:blip r:embed="rId1"/>
          <a:stretch>
            <a:fillRect/>
          </a:stretch>
        </p:blipFill>
        <p:spPr>
          <a:xfrm>
            <a:off x="4160520" y="1188720"/>
            <a:ext cx="4526280" cy="3081528"/>
          </a:xfrm>
          <a:prstGeom prst="rect">
            <a:avLst/>
          </a:prstGeom>
        </p:spPr>
      </p:pic>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Autoscaling and monitoring</a:t>
            </a:r>
            <a:endParaRPr lang="en-US" sz="3000" dirty="0"/>
          </a:p>
        </p:txBody>
      </p:sp>
      <p:sp>
        <p:nvSpPr>
          <p:cNvPr id="3" name="frame-08-grafana.png"/>
          <p:cNvSpPr/>
          <p:nvPr/>
        </p:nvSpPr>
        <p:spPr>
          <a:xfrm>
            <a:off x="457200" y="1143000"/>
            <a:ext cx="5212080" cy="3291840"/>
          </a:xfrm>
          <a:prstGeom prst="roundRect">
            <a:avLst>
              <a:gd name="adj" fmla="val 2222"/>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4" name="08-grafana.png" descr="/Users/dhruv/Desktop/DevOps-CapStone/docs/screenshots/08-grafana.png">    </p:cNvPr>
          <p:cNvPicPr>
            <a:picLocks noChangeAspect="1"/>
          </p:cNvPicPr>
          <p:nvPr/>
        </p:nvPicPr>
        <p:blipFill>
          <a:blip r:embed="rId1"/>
          <a:stretch>
            <a:fillRect/>
          </a:stretch>
        </p:blipFill>
        <p:spPr>
          <a:xfrm>
            <a:off x="502920" y="1188720"/>
            <a:ext cx="5120640" cy="3200400"/>
          </a:xfrm>
          <a:prstGeom prst="rect">
            <a:avLst/>
          </a:prstGeom>
        </p:spPr>
      </p:pic>
      <p:sp>
        <p:nvSpPr>
          <p:cNvPr id="5" name="stat-HPA scaled the backend under load"/>
          <p:cNvSpPr/>
          <p:nvPr/>
        </p:nvSpPr>
        <p:spPr>
          <a:xfrm>
            <a:off x="5943600" y="1188720"/>
            <a:ext cx="2743200" cy="914400"/>
          </a:xfrm>
          <a:prstGeom prst="roundRect">
            <a:avLst>
              <a:gd name="adj" fmla="val 8000"/>
            </a:avLst>
          </a:prstGeom>
          <a:solidFill>
            <a:srgbClr val="EEF2FF"/>
          </a:solidFill>
          <a:ln w="12700">
            <a:solidFill>
              <a:srgbClr val="EEF2FF"/>
            </a:solidFill>
            <a:prstDash val="solid"/>
          </a:ln>
        </p:spPr>
      </p:sp>
      <p:sp>
        <p:nvSpPr>
          <p:cNvPr id="6" name="Text 3"/>
          <p:cNvSpPr txBox="1"/>
          <p:nvPr/>
        </p:nvSpPr>
        <p:spPr>
          <a:xfrm>
            <a:off x="6126480" y="1261872"/>
            <a:ext cx="2377440" cy="502920"/>
          </a:xfrm>
          <a:prstGeom prst="rect">
            <a:avLst/>
          </a:prstGeom>
          <a:noFill/>
          <a:ln/>
        </p:spPr>
        <p:txBody>
          <a:bodyPr wrap="square" lIns="0" tIns="0" rIns="0" bIns="0" rtlCol="0" anchor="ctr"/>
          <a:lstStyle/>
          <a:p>
            <a:pPr indent="0" marL="0">
              <a:buNone/>
            </a:pPr>
            <a:r>
              <a:rPr lang="en-US" sz="2800" b="1" dirty="0">
                <a:solidFill>
                  <a:srgbClr val="4F46E5"/>
                </a:solidFill>
                <a:latin typeface="Cambria" pitchFamily="34" charset="0"/>
                <a:ea typeface="Cambria" pitchFamily="34" charset="-122"/>
                <a:cs typeface="Cambria" pitchFamily="34" charset="-120"/>
              </a:rPr>
              <a:t>2 → 8 pods</a:t>
            </a:r>
            <a:endParaRPr lang="en-US" sz="2800" dirty="0"/>
          </a:p>
        </p:txBody>
      </p:sp>
      <p:sp>
        <p:nvSpPr>
          <p:cNvPr id="7" name="Text 4"/>
          <p:cNvSpPr txBox="1"/>
          <p:nvPr/>
        </p:nvSpPr>
        <p:spPr>
          <a:xfrm>
            <a:off x="6126480" y="1755648"/>
            <a:ext cx="237744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HPA scaled the backend under load</a:t>
            </a:r>
            <a:endParaRPr lang="en-US" sz="1200" dirty="0"/>
          </a:p>
        </p:txBody>
      </p:sp>
      <p:sp>
        <p:nvSpPr>
          <p:cNvPr id="8" name="stat-with 96 ms p95 latency"/>
          <p:cNvSpPr/>
          <p:nvPr/>
        </p:nvSpPr>
        <p:spPr>
          <a:xfrm>
            <a:off x="5943600" y="2240280"/>
            <a:ext cx="2743200" cy="914400"/>
          </a:xfrm>
          <a:prstGeom prst="roundRect">
            <a:avLst>
              <a:gd name="adj" fmla="val 8000"/>
            </a:avLst>
          </a:prstGeom>
          <a:solidFill>
            <a:srgbClr val="EEF2FF"/>
          </a:solidFill>
          <a:ln w="12700">
            <a:solidFill>
              <a:srgbClr val="EEF2FF"/>
            </a:solidFill>
            <a:prstDash val="solid"/>
          </a:ln>
        </p:spPr>
      </p:sp>
      <p:sp>
        <p:nvSpPr>
          <p:cNvPr id="9" name="Text 6"/>
          <p:cNvSpPr txBox="1"/>
          <p:nvPr/>
        </p:nvSpPr>
        <p:spPr>
          <a:xfrm>
            <a:off x="6126480" y="2313432"/>
            <a:ext cx="2377440" cy="502920"/>
          </a:xfrm>
          <a:prstGeom prst="rect">
            <a:avLst/>
          </a:prstGeom>
          <a:noFill/>
          <a:ln/>
        </p:spPr>
        <p:txBody>
          <a:bodyPr wrap="square" lIns="0" tIns="0" rIns="0" bIns="0" rtlCol="0" anchor="ctr"/>
          <a:lstStyle/>
          <a:p>
            <a:pPr indent="0" marL="0">
              <a:buNone/>
            </a:pPr>
            <a:r>
              <a:rPr lang="en-US" sz="2800" b="1" dirty="0">
                <a:solidFill>
                  <a:srgbClr val="4F46E5"/>
                </a:solidFill>
                <a:latin typeface="Cambria" pitchFamily="34" charset="0"/>
                <a:ea typeface="Cambria" pitchFamily="34" charset="-122"/>
                <a:cs typeface="Cambria" pitchFamily="34" charset="-120"/>
              </a:rPr>
              <a:t>353 req/s</a:t>
            </a:r>
            <a:endParaRPr lang="en-US" sz="2800" dirty="0"/>
          </a:p>
        </p:txBody>
      </p:sp>
      <p:sp>
        <p:nvSpPr>
          <p:cNvPr id="10" name="Text 7"/>
          <p:cNvSpPr txBox="1"/>
          <p:nvPr/>
        </p:nvSpPr>
        <p:spPr>
          <a:xfrm>
            <a:off x="6126480" y="2807208"/>
            <a:ext cx="237744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with 96 ms p95 latency</a:t>
            </a:r>
            <a:endParaRPr lang="en-US" sz="1200" dirty="0"/>
          </a:p>
        </p:txBody>
      </p:sp>
      <p:sp>
        <p:nvSpPr>
          <p:cNvPr id="11" name="stat-errors, scraped by Prometheus"/>
          <p:cNvSpPr/>
          <p:nvPr/>
        </p:nvSpPr>
        <p:spPr>
          <a:xfrm>
            <a:off x="5943600" y="3291840"/>
            <a:ext cx="2743200" cy="914400"/>
          </a:xfrm>
          <a:prstGeom prst="roundRect">
            <a:avLst>
              <a:gd name="adj" fmla="val 8000"/>
            </a:avLst>
          </a:prstGeom>
          <a:solidFill>
            <a:srgbClr val="ECFDF5"/>
          </a:solidFill>
          <a:ln w="12700">
            <a:solidFill>
              <a:srgbClr val="ECFDF5"/>
            </a:solidFill>
            <a:prstDash val="solid"/>
          </a:ln>
        </p:spPr>
      </p:sp>
      <p:sp>
        <p:nvSpPr>
          <p:cNvPr id="12" name="Text 9"/>
          <p:cNvSpPr txBox="1"/>
          <p:nvPr/>
        </p:nvSpPr>
        <p:spPr>
          <a:xfrm>
            <a:off x="6126480" y="3364992"/>
            <a:ext cx="2377440" cy="502920"/>
          </a:xfrm>
          <a:prstGeom prst="rect">
            <a:avLst/>
          </a:prstGeom>
          <a:noFill/>
          <a:ln/>
        </p:spPr>
        <p:txBody>
          <a:bodyPr wrap="square" lIns="0" tIns="0" rIns="0" bIns="0" rtlCol="0" anchor="ctr"/>
          <a:lstStyle/>
          <a:p>
            <a:pPr indent="0" marL="0">
              <a:buNone/>
            </a:pPr>
            <a:r>
              <a:rPr lang="en-US" sz="2800" b="1" dirty="0">
                <a:solidFill>
                  <a:srgbClr val="059669"/>
                </a:solidFill>
                <a:latin typeface="Cambria" pitchFamily="34" charset="0"/>
                <a:ea typeface="Cambria" pitchFamily="34" charset="-122"/>
                <a:cs typeface="Cambria" pitchFamily="34" charset="-120"/>
              </a:rPr>
              <a:t>0.00%</a:t>
            </a:r>
            <a:endParaRPr lang="en-US" sz="2800" dirty="0"/>
          </a:p>
        </p:txBody>
      </p:sp>
      <p:sp>
        <p:nvSpPr>
          <p:cNvPr id="13" name="Text 10"/>
          <p:cNvSpPr txBox="1"/>
          <p:nvPr/>
        </p:nvSpPr>
        <p:spPr>
          <a:xfrm>
            <a:off x="6126480" y="3858768"/>
            <a:ext cx="2377440" cy="274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errors, scraped by Prometheus</a:t>
            </a:r>
            <a:endParaRPr lang="en-US" sz="12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rgbClr val="0F172A"/>
                </a:solidFill>
                <a:latin typeface="Cambria" pitchFamily="34" charset="0"/>
                <a:ea typeface="Cambria" pitchFamily="34" charset="-122"/>
                <a:cs typeface="Cambria" pitchFamily="34" charset="-120"/>
              </a:rPr>
              <a:t>Troubleshooting lab</a:t>
            </a:r>
            <a:endParaRPr lang="en-US" sz="3000" dirty="0"/>
          </a:p>
        </p:txBody>
      </p:sp>
      <p:sp>
        <p:nvSpPr>
          <p:cNvPr id="3" name="frame-14-troubleshooting.png"/>
          <p:cNvSpPr/>
          <p:nvPr/>
        </p:nvSpPr>
        <p:spPr>
          <a:xfrm>
            <a:off x="457200" y="1143000"/>
            <a:ext cx="4846320" cy="3063240"/>
          </a:xfrm>
          <a:prstGeom prst="roundRect">
            <a:avLst>
              <a:gd name="adj" fmla="val 2388"/>
            </a:avLst>
          </a:prstGeom>
          <a:solidFill>
            <a:srgbClr val="FFFFFF"/>
          </a:solidFill>
          <a:ln w="9525">
            <a:solidFill>
              <a:srgbClr val="E2E8F0"/>
            </a:solidFill>
            <a:prstDash val="solid"/>
          </a:ln>
          <a:effectLst>
            <a:outerShdw sx="100000" sy="100000" kx="0" ky="0" algn="bl" rotWithShape="0" blurRad="127000" dist="38100" dir="5400000">
              <a:srgbClr val="0F172A">
                <a:alpha val="18000"/>
              </a:srgbClr>
            </a:outerShdw>
          </a:effectLst>
        </p:spPr>
      </p:sp>
      <p:pic>
        <p:nvPicPr>
          <p:cNvPr id="4" name="14-troubleshooting.png" descr="/Users/dhruv/Desktop/DevOps-CapStone/docs/screenshots/14-troubleshooting.png">    </p:cNvPr>
          <p:cNvPicPr>
            <a:picLocks noChangeAspect="1"/>
          </p:cNvPicPr>
          <p:nvPr/>
        </p:nvPicPr>
        <p:blipFill>
          <a:blip r:embed="rId1"/>
          <a:stretch>
            <a:fillRect/>
          </a:stretch>
        </p:blipFill>
        <p:spPr>
          <a:xfrm>
            <a:off x="502920" y="1188720"/>
            <a:ext cx="4754880" cy="2971800"/>
          </a:xfrm>
          <a:prstGeom prst="rect">
            <a:avLst/>
          </a:prstGeom>
        </p:spPr>
      </p:pic>
      <p:sp>
        <p:nvSpPr>
          <p:cNvPr id="5" name="chip-1"/>
          <p:cNvSpPr/>
          <p:nvPr/>
        </p:nvSpPr>
        <p:spPr>
          <a:xfrm>
            <a:off x="5623560" y="1207008"/>
            <a:ext cx="329184" cy="329184"/>
          </a:xfrm>
          <a:prstGeom prst="ellipse">
            <a:avLst/>
          </a:prstGeom>
          <a:solidFill>
            <a:srgbClr val="4F46E5"/>
          </a:solidFill>
          <a:ln w="12700">
            <a:solidFill>
              <a:srgbClr val="4F46E5"/>
            </a:solidFill>
            <a:prstDash val="solid"/>
          </a:ln>
        </p:spPr>
      </p:sp>
      <p:sp>
        <p:nvSpPr>
          <p:cNvPr id="6" name="Text 3"/>
          <p:cNvSpPr txBox="1"/>
          <p:nvPr/>
        </p:nvSpPr>
        <p:spPr>
          <a:xfrm>
            <a:off x="5623560" y="12070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4"/>
          <p:cNvSpPr txBox="1"/>
          <p:nvPr/>
        </p:nvSpPr>
        <p:spPr>
          <a:xfrm>
            <a:off x="6080760" y="115214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ImagePullBackOff</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Wrong image tag, found with describe pod</a:t>
            </a:r>
            <a:endParaRPr lang="en-US" sz="1500" dirty="0"/>
          </a:p>
        </p:txBody>
      </p:sp>
      <p:sp>
        <p:nvSpPr>
          <p:cNvPr id="8" name="chip-2"/>
          <p:cNvSpPr/>
          <p:nvPr/>
        </p:nvSpPr>
        <p:spPr>
          <a:xfrm>
            <a:off x="5623560" y="1892808"/>
            <a:ext cx="329184" cy="329184"/>
          </a:xfrm>
          <a:prstGeom prst="ellipse">
            <a:avLst/>
          </a:prstGeom>
          <a:solidFill>
            <a:srgbClr val="4F46E5"/>
          </a:solidFill>
          <a:ln w="12700">
            <a:solidFill>
              <a:srgbClr val="4F46E5"/>
            </a:solidFill>
            <a:prstDash val="solid"/>
          </a:ln>
        </p:spPr>
      </p:sp>
      <p:sp>
        <p:nvSpPr>
          <p:cNvPr id="9" name="Text 6"/>
          <p:cNvSpPr txBox="1"/>
          <p:nvPr/>
        </p:nvSpPr>
        <p:spPr>
          <a:xfrm>
            <a:off x="5623560" y="18928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7"/>
          <p:cNvSpPr txBox="1"/>
          <p:nvPr/>
        </p:nvSpPr>
        <p:spPr>
          <a:xfrm>
            <a:off x="6080760" y="183794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Service with no endpoints</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Selector didn't match the pod labels</a:t>
            </a:r>
            <a:endParaRPr lang="en-US" sz="1500" dirty="0"/>
          </a:p>
        </p:txBody>
      </p:sp>
      <p:sp>
        <p:nvSpPr>
          <p:cNvPr id="11" name="chip-3"/>
          <p:cNvSpPr/>
          <p:nvPr/>
        </p:nvSpPr>
        <p:spPr>
          <a:xfrm>
            <a:off x="5623560" y="2578608"/>
            <a:ext cx="329184" cy="329184"/>
          </a:xfrm>
          <a:prstGeom prst="ellipse">
            <a:avLst/>
          </a:prstGeom>
          <a:solidFill>
            <a:srgbClr val="4F46E5"/>
          </a:solidFill>
          <a:ln w="12700">
            <a:solidFill>
              <a:srgbClr val="4F46E5"/>
            </a:solidFill>
            <a:prstDash val="solid"/>
          </a:ln>
        </p:spPr>
      </p:sp>
      <p:sp>
        <p:nvSpPr>
          <p:cNvPr id="12" name="Text 9"/>
          <p:cNvSpPr txBox="1"/>
          <p:nvPr/>
        </p:nvSpPr>
        <p:spPr>
          <a:xfrm>
            <a:off x="5623560" y="25786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3" name="Text 10"/>
          <p:cNvSpPr txBox="1"/>
          <p:nvPr/>
        </p:nvSpPr>
        <p:spPr>
          <a:xfrm>
            <a:off x="6080760" y="252374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Probe, config and memory</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0/1 Ready, CrashLoopBackOff, OOMKilled</a:t>
            </a:r>
            <a:endParaRPr lang="en-US" sz="1500" dirty="0"/>
          </a:p>
        </p:txBody>
      </p:sp>
      <p:sp>
        <p:nvSpPr>
          <p:cNvPr id="14" name="chip-4"/>
          <p:cNvSpPr/>
          <p:nvPr/>
        </p:nvSpPr>
        <p:spPr>
          <a:xfrm>
            <a:off x="5623560" y="3264408"/>
            <a:ext cx="329184" cy="329184"/>
          </a:xfrm>
          <a:prstGeom prst="ellipse">
            <a:avLst/>
          </a:prstGeom>
          <a:solidFill>
            <a:srgbClr val="4F46E5"/>
          </a:solidFill>
          <a:ln w="12700">
            <a:solidFill>
              <a:srgbClr val="4F46E5"/>
            </a:solidFill>
            <a:prstDash val="solid"/>
          </a:ln>
        </p:spPr>
      </p:sp>
      <p:sp>
        <p:nvSpPr>
          <p:cNvPr id="15" name="Text 12"/>
          <p:cNvSpPr txBox="1"/>
          <p:nvPr/>
        </p:nvSpPr>
        <p:spPr>
          <a:xfrm>
            <a:off x="5623560" y="326440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6" name="Text 13"/>
          <p:cNvSpPr txBox="1"/>
          <p:nvPr/>
        </p:nvSpPr>
        <p:spPr>
          <a:xfrm>
            <a:off x="6080760" y="3209544"/>
            <a:ext cx="2651760" cy="566928"/>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Database outage</a:t>
            </a:r>
            <a:endParaRPr lang="en-US" sz="1500" dirty="0"/>
          </a:p>
          <a:p>
            <a:pPr indent="0" marL="0">
              <a:buNone/>
            </a:pPr>
            <a:r>
              <a:rPr lang="en-US" sz="1200" dirty="0">
                <a:solidFill>
                  <a:srgbClr val="475569"/>
                </a:solidFill>
                <a:latin typeface="Calibri" pitchFamily="34" charset="0"/>
                <a:ea typeface="Calibri" pitchFamily="34" charset="-122"/>
                <a:cs typeface="Calibri" pitchFamily="34" charset="-120"/>
              </a:rPr>
              <a:t>Pods leave the Service, no restarts</a:t>
            </a:r>
            <a:endParaRPr lang="en-US" sz="1500" dirty="0"/>
          </a:p>
        </p:txBody>
      </p:sp>
      <p:sp>
        <p:nvSpPr>
          <p:cNvPr id="25" name="Slide Number Placeholder 0"/>
          <p:cNvSpPr>
            <a:spLocks noGrp="1"/>
          </p:cNvSpPr>
          <p:nvPr>
            <p:ph type="sldNum" sz="quarter" idx="4294967295"/>
          </p:nvPr>
        </p:nvSpPr>
        <p:spPr>
          <a:xfrm>
            <a:off x="8412480" y="4754880"/>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94A3B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1097280"/>
            <a:ext cx="8229600" cy="8229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Every step automated and observable</a:t>
            </a:r>
            <a:endParaRPr lang="en-US" sz="3600" dirty="0"/>
          </a:p>
        </p:txBody>
      </p:sp>
      <p:sp>
        <p:nvSpPr>
          <p:cNvPr id="3" name="close-automated tests"/>
          <p:cNvSpPr/>
          <p:nvPr/>
        </p:nvSpPr>
        <p:spPr>
          <a:xfrm>
            <a:off x="457200" y="2286000"/>
            <a:ext cx="1874520" cy="1143000"/>
          </a:xfrm>
          <a:prstGeom prst="roundRect">
            <a:avLst>
              <a:gd name="adj" fmla="val 8000"/>
            </a:avLst>
          </a:prstGeom>
          <a:solidFill>
            <a:srgbClr val="1E293B"/>
          </a:solidFill>
          <a:ln w="12700">
            <a:solidFill>
              <a:srgbClr val="1E293B"/>
            </a:solidFill>
            <a:prstDash val="solid"/>
          </a:ln>
        </p:spPr>
      </p:sp>
      <p:sp>
        <p:nvSpPr>
          <p:cNvPr id="4" name="Text 2"/>
          <p:cNvSpPr txBox="1"/>
          <p:nvPr/>
        </p:nvSpPr>
        <p:spPr>
          <a:xfrm>
            <a:off x="640080" y="2377440"/>
            <a:ext cx="1508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32</a:t>
            </a:r>
            <a:endParaRPr lang="en-US" sz="3000" dirty="0"/>
          </a:p>
        </p:txBody>
      </p:sp>
      <p:sp>
        <p:nvSpPr>
          <p:cNvPr id="5" name="Text 3"/>
          <p:cNvSpPr txBox="1"/>
          <p:nvPr/>
        </p:nvSpPr>
        <p:spPr>
          <a:xfrm>
            <a:off x="640080" y="2971800"/>
            <a:ext cx="1508760" cy="320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automated tests</a:t>
            </a:r>
            <a:endParaRPr lang="en-US" sz="1300" dirty="0"/>
          </a:p>
        </p:txBody>
      </p:sp>
      <p:sp>
        <p:nvSpPr>
          <p:cNvPr id="6" name="close-critical CVEs"/>
          <p:cNvSpPr/>
          <p:nvPr/>
        </p:nvSpPr>
        <p:spPr>
          <a:xfrm>
            <a:off x="2560320" y="2286000"/>
            <a:ext cx="1874520" cy="1143000"/>
          </a:xfrm>
          <a:prstGeom prst="roundRect">
            <a:avLst>
              <a:gd name="adj" fmla="val 8000"/>
            </a:avLst>
          </a:prstGeom>
          <a:solidFill>
            <a:srgbClr val="1E293B"/>
          </a:solidFill>
          <a:ln w="12700">
            <a:solidFill>
              <a:srgbClr val="1E293B"/>
            </a:solidFill>
            <a:prstDash val="solid"/>
          </a:ln>
        </p:spPr>
      </p:sp>
      <p:sp>
        <p:nvSpPr>
          <p:cNvPr id="7" name="Text 5"/>
          <p:cNvSpPr txBox="1"/>
          <p:nvPr/>
        </p:nvSpPr>
        <p:spPr>
          <a:xfrm>
            <a:off x="2743200" y="2377440"/>
            <a:ext cx="1508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0</a:t>
            </a:r>
            <a:endParaRPr lang="en-US" sz="3000" dirty="0"/>
          </a:p>
        </p:txBody>
      </p:sp>
      <p:sp>
        <p:nvSpPr>
          <p:cNvPr id="8" name="Text 6"/>
          <p:cNvSpPr txBox="1"/>
          <p:nvPr/>
        </p:nvSpPr>
        <p:spPr>
          <a:xfrm>
            <a:off x="2743200" y="2971800"/>
            <a:ext cx="1508760" cy="320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critical CVEs</a:t>
            </a:r>
            <a:endParaRPr lang="en-US" sz="1300" dirty="0"/>
          </a:p>
        </p:txBody>
      </p:sp>
      <p:sp>
        <p:nvSpPr>
          <p:cNvPr id="9" name="close-pods autoscaled"/>
          <p:cNvSpPr/>
          <p:nvPr/>
        </p:nvSpPr>
        <p:spPr>
          <a:xfrm>
            <a:off x="4663440" y="2286000"/>
            <a:ext cx="1874520" cy="1143000"/>
          </a:xfrm>
          <a:prstGeom prst="roundRect">
            <a:avLst>
              <a:gd name="adj" fmla="val 8000"/>
            </a:avLst>
          </a:prstGeom>
          <a:solidFill>
            <a:srgbClr val="1E293B"/>
          </a:solidFill>
          <a:ln w="12700">
            <a:solidFill>
              <a:srgbClr val="1E293B"/>
            </a:solidFill>
            <a:prstDash val="solid"/>
          </a:ln>
        </p:spPr>
      </p:sp>
      <p:sp>
        <p:nvSpPr>
          <p:cNvPr id="10" name="Text 8"/>
          <p:cNvSpPr txBox="1"/>
          <p:nvPr/>
        </p:nvSpPr>
        <p:spPr>
          <a:xfrm>
            <a:off x="4846320" y="2377440"/>
            <a:ext cx="1508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2 → 8</a:t>
            </a:r>
            <a:endParaRPr lang="en-US" sz="3000" dirty="0"/>
          </a:p>
        </p:txBody>
      </p:sp>
      <p:sp>
        <p:nvSpPr>
          <p:cNvPr id="11" name="Text 9"/>
          <p:cNvSpPr txBox="1"/>
          <p:nvPr/>
        </p:nvSpPr>
        <p:spPr>
          <a:xfrm>
            <a:off x="4846320" y="2971800"/>
            <a:ext cx="1508760" cy="320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pods autoscaled</a:t>
            </a:r>
            <a:endParaRPr lang="en-US" sz="1300" dirty="0"/>
          </a:p>
        </p:txBody>
      </p:sp>
      <p:sp>
        <p:nvSpPr>
          <p:cNvPr id="12" name="close-failure drills"/>
          <p:cNvSpPr/>
          <p:nvPr/>
        </p:nvSpPr>
        <p:spPr>
          <a:xfrm>
            <a:off x="6766560" y="2286000"/>
            <a:ext cx="1874520" cy="1143000"/>
          </a:xfrm>
          <a:prstGeom prst="roundRect">
            <a:avLst>
              <a:gd name="adj" fmla="val 8000"/>
            </a:avLst>
          </a:prstGeom>
          <a:solidFill>
            <a:srgbClr val="1E293B"/>
          </a:solidFill>
          <a:ln w="12700">
            <a:solidFill>
              <a:srgbClr val="1E293B"/>
            </a:solidFill>
            <a:prstDash val="solid"/>
          </a:ln>
        </p:spPr>
      </p:sp>
      <p:sp>
        <p:nvSpPr>
          <p:cNvPr id="13" name="Text 11"/>
          <p:cNvSpPr txBox="1"/>
          <p:nvPr/>
        </p:nvSpPr>
        <p:spPr>
          <a:xfrm>
            <a:off x="6949440" y="2377440"/>
            <a:ext cx="150876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4" name="Text 12"/>
          <p:cNvSpPr txBox="1"/>
          <p:nvPr/>
        </p:nvSpPr>
        <p:spPr>
          <a:xfrm>
            <a:off x="6949440" y="2971800"/>
            <a:ext cx="1508760" cy="320040"/>
          </a:xfrm>
          <a:prstGeom prst="rect">
            <a:avLst/>
          </a:prstGeom>
          <a:noFill/>
          <a:ln/>
        </p:spPr>
        <p:txBody>
          <a:bodyPr wrap="square" lIns="0" tIns="0" rIns="0" bIns="0" rtlCol="0" anchor="t"/>
          <a:lstStyle/>
          <a:p>
            <a:pPr indent="0" marL="0">
              <a:buNone/>
            </a:pPr>
            <a:r>
              <a:rPr lang="en-US" sz="1300" dirty="0">
                <a:solidFill>
                  <a:srgbClr val="CBD5E1"/>
                </a:solidFill>
                <a:latin typeface="Calibri" pitchFamily="34" charset="0"/>
                <a:ea typeface="Calibri" pitchFamily="34" charset="-122"/>
                <a:cs typeface="Calibri" pitchFamily="34" charset="-120"/>
              </a:rPr>
              <a:t>failure drills</a:t>
            </a:r>
            <a:endParaRPr lang="en-US" sz="1300" dirty="0"/>
          </a:p>
        </p:txBody>
      </p:sp>
      <p:sp>
        <p:nvSpPr>
          <p:cNvPr id="15" name="Text 13"/>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600" b="1" dirty="0">
                <a:solidFill>
                  <a:srgbClr val="A5B4FC"/>
                </a:solidFill>
                <a:latin typeface="Calibri" pitchFamily="34" charset="0"/>
                <a:ea typeface="Calibri" pitchFamily="34" charset="-122"/>
                <a:cs typeface="Calibri" pitchFamily="34" charset="-120"/>
              </a:rPr>
              <a:t>github.com/dhruvdavda777/stockpilot</a:t>
            </a:r>
            <a:endParaRPr lang="en-US" sz="1600" dirty="0"/>
          </a:p>
        </p:txBody>
      </p:sp>
      <p:sp>
        <p:nvSpPr>
          <p:cNvPr id="17" name="Text 0"/>
          <p:cNvSpPr/>
          <p:nvPr>
            <p:ph idx="100" type="title" hasCustomPrompt="1"/>
          </p:nvPr>
        </p:nvSpPr>
        <p:spPr>
          <a:xfrm>
            <a:off x="457200" y="1234440"/>
            <a:ext cx="4206240" cy="1005840"/>
          </a:xfrm>
          <a:prstGeom prst="rect">
            <a:avLst/>
          </a:prstGeom>
          <a:noFill/>
          <a:ln/>
        </p:spPr>
        <p:txBody>
          <a:bodyPr wrap="square" lIns="0" tIns="0" rIns="0" bIns="0" rtlCol="0" anchor="t"/>
          <a:lstStyle/>
          <a:p>
            <a:pPr algn="l" indent="0" marL="0">
              <a:buNone/>
            </a:pP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StockPilot — DevOps Final Capstone</dc:title>
  <dc:subject>PptxGenJS Presentation</dc:subject>
  <dc:creator>Dhruv</dc:creator>
  <cp:lastModifiedBy>Dhruv</cp:lastModifiedBy>
  <cp:revision>1</cp:revision>
  <dcterms:created xsi:type="dcterms:W3CDTF">2026-10-16T18:05:17Z</dcterms:created>
  <dcterms:modified xsi:type="dcterms:W3CDTF">2026-10-16T18:05:17Z</dcterms:modified>
</cp:coreProperties>
</file>